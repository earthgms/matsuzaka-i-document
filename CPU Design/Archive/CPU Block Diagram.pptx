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053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18E0-22BB-4A54-9E09-8D1D4D7516F7}" type="datetimeFigureOut">
              <a:rPr lang="en-GB" smtClean="0"/>
              <a:pPr/>
              <a:t>04/06/2026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E7FFA-4E32-44B5-9434-A572C0953180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ajournals.org/ijeees/wp-content/uploads/sites/53/2023/12/5-Line-to-32-Line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Straight Arrow Connector 122"/>
          <p:cNvCxnSpPr/>
          <p:nvPr/>
        </p:nvCxnSpPr>
        <p:spPr>
          <a:xfrm>
            <a:off x="5148064" y="3717032"/>
            <a:ext cx="0" cy="216000"/>
          </a:xfrm>
          <a:prstGeom prst="straightConnector1">
            <a:avLst/>
          </a:prstGeom>
          <a:ln w="25400">
            <a:solidFill>
              <a:srgbClr val="92D05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03" idx="2"/>
          </p:cNvCxnSpPr>
          <p:nvPr/>
        </p:nvCxnSpPr>
        <p:spPr>
          <a:xfrm>
            <a:off x="4211960" y="3717032"/>
            <a:ext cx="0" cy="216000"/>
          </a:xfrm>
          <a:prstGeom prst="straightConnector1">
            <a:avLst/>
          </a:prstGeom>
          <a:ln w="25400">
            <a:solidFill>
              <a:srgbClr val="92D05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763688" y="908720"/>
            <a:ext cx="151216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Program counter</a:t>
            </a:r>
            <a:endParaRPr lang="en-GB" sz="1200" dirty="0"/>
          </a:p>
        </p:txBody>
      </p:sp>
      <p:sp>
        <p:nvSpPr>
          <p:cNvPr id="6" name="Rectangle 5"/>
          <p:cNvSpPr/>
          <p:nvPr/>
        </p:nvSpPr>
        <p:spPr>
          <a:xfrm>
            <a:off x="1763688" y="1556792"/>
            <a:ext cx="151216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ROM</a:t>
            </a:r>
            <a:endParaRPr lang="en-GB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088152" y="1207785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16 bit address</a:t>
            </a:r>
            <a:endParaRPr lang="en-GB" sz="1200" dirty="0"/>
          </a:p>
        </p:txBody>
      </p:sp>
      <p:sp>
        <p:nvSpPr>
          <p:cNvPr id="10" name="Rectangle 9"/>
          <p:cNvSpPr/>
          <p:nvPr/>
        </p:nvSpPr>
        <p:spPr>
          <a:xfrm>
            <a:off x="3779912" y="476672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0</a:t>
            </a:r>
            <a:endParaRPr lang="en-GB" sz="1200" dirty="0"/>
          </a:p>
        </p:txBody>
      </p:sp>
      <p:sp>
        <p:nvSpPr>
          <p:cNvPr id="11" name="Rectangle 10"/>
          <p:cNvSpPr/>
          <p:nvPr/>
        </p:nvSpPr>
        <p:spPr>
          <a:xfrm>
            <a:off x="3779912" y="764704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</a:t>
            </a:r>
            <a:endParaRPr lang="en-GB" sz="1200" dirty="0"/>
          </a:p>
        </p:txBody>
      </p:sp>
      <p:sp>
        <p:nvSpPr>
          <p:cNvPr id="12" name="Rectangle 11"/>
          <p:cNvSpPr/>
          <p:nvPr/>
        </p:nvSpPr>
        <p:spPr>
          <a:xfrm>
            <a:off x="3779912" y="1052736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2</a:t>
            </a:r>
            <a:endParaRPr lang="en-GB" sz="1200" dirty="0"/>
          </a:p>
        </p:txBody>
      </p:sp>
      <p:sp>
        <p:nvSpPr>
          <p:cNvPr id="13" name="Rectangle 12"/>
          <p:cNvSpPr/>
          <p:nvPr/>
        </p:nvSpPr>
        <p:spPr>
          <a:xfrm>
            <a:off x="3779912" y="134076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3</a:t>
            </a:r>
            <a:endParaRPr lang="en-GB" sz="1200" dirty="0"/>
          </a:p>
        </p:txBody>
      </p:sp>
      <p:sp>
        <p:nvSpPr>
          <p:cNvPr id="14" name="Rectangle 13"/>
          <p:cNvSpPr/>
          <p:nvPr/>
        </p:nvSpPr>
        <p:spPr>
          <a:xfrm>
            <a:off x="3779912" y="1628800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4</a:t>
            </a:r>
            <a:endParaRPr lang="en-GB" sz="1200" dirty="0"/>
          </a:p>
        </p:txBody>
      </p:sp>
      <p:sp>
        <p:nvSpPr>
          <p:cNvPr id="15" name="Rectangle 14"/>
          <p:cNvSpPr/>
          <p:nvPr/>
        </p:nvSpPr>
        <p:spPr>
          <a:xfrm>
            <a:off x="3779912" y="1916832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5</a:t>
            </a:r>
            <a:endParaRPr lang="en-GB" sz="1200" dirty="0"/>
          </a:p>
        </p:txBody>
      </p:sp>
      <p:sp>
        <p:nvSpPr>
          <p:cNvPr id="16" name="Rectangle 15"/>
          <p:cNvSpPr/>
          <p:nvPr/>
        </p:nvSpPr>
        <p:spPr>
          <a:xfrm>
            <a:off x="3779912" y="2204864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6</a:t>
            </a:r>
            <a:endParaRPr lang="en-GB" sz="1200" dirty="0"/>
          </a:p>
        </p:txBody>
      </p:sp>
      <p:sp>
        <p:nvSpPr>
          <p:cNvPr id="17" name="Rectangle 16"/>
          <p:cNvSpPr/>
          <p:nvPr/>
        </p:nvSpPr>
        <p:spPr>
          <a:xfrm>
            <a:off x="3779912" y="2492896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7</a:t>
            </a:r>
            <a:endParaRPr lang="en-GB" sz="1200" dirty="0"/>
          </a:p>
        </p:txBody>
      </p:sp>
      <p:sp>
        <p:nvSpPr>
          <p:cNvPr id="18" name="Rectangle 17"/>
          <p:cNvSpPr/>
          <p:nvPr/>
        </p:nvSpPr>
        <p:spPr>
          <a:xfrm>
            <a:off x="4716016" y="476672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8</a:t>
            </a:r>
            <a:endParaRPr lang="en-GB" sz="1200" dirty="0"/>
          </a:p>
        </p:txBody>
      </p:sp>
      <p:sp>
        <p:nvSpPr>
          <p:cNvPr id="19" name="Rectangle 18"/>
          <p:cNvSpPr/>
          <p:nvPr/>
        </p:nvSpPr>
        <p:spPr>
          <a:xfrm>
            <a:off x="4716016" y="764704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9</a:t>
            </a:r>
            <a:endParaRPr lang="en-GB" sz="1200" dirty="0"/>
          </a:p>
        </p:txBody>
      </p:sp>
      <p:sp>
        <p:nvSpPr>
          <p:cNvPr id="20" name="Rectangle 19"/>
          <p:cNvSpPr/>
          <p:nvPr/>
        </p:nvSpPr>
        <p:spPr>
          <a:xfrm>
            <a:off x="4716016" y="1052736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Reg10</a:t>
            </a:r>
            <a:endParaRPr lang="en-GB" sz="1200" dirty="0"/>
          </a:p>
        </p:txBody>
      </p:sp>
      <p:sp>
        <p:nvSpPr>
          <p:cNvPr id="21" name="Rectangle 20"/>
          <p:cNvSpPr/>
          <p:nvPr/>
        </p:nvSpPr>
        <p:spPr>
          <a:xfrm>
            <a:off x="4716016" y="134076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11</a:t>
            </a:r>
            <a:endParaRPr lang="en-GB" sz="1200" dirty="0"/>
          </a:p>
        </p:txBody>
      </p:sp>
      <p:sp>
        <p:nvSpPr>
          <p:cNvPr id="22" name="Rectangle 21"/>
          <p:cNvSpPr/>
          <p:nvPr/>
        </p:nvSpPr>
        <p:spPr>
          <a:xfrm>
            <a:off x="4716016" y="1628800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12</a:t>
            </a:r>
            <a:endParaRPr lang="en-GB" sz="1200" dirty="0"/>
          </a:p>
        </p:txBody>
      </p:sp>
      <p:sp>
        <p:nvSpPr>
          <p:cNvPr id="23" name="Rectangle 22"/>
          <p:cNvSpPr/>
          <p:nvPr/>
        </p:nvSpPr>
        <p:spPr>
          <a:xfrm>
            <a:off x="4716016" y="1916832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13</a:t>
            </a:r>
            <a:endParaRPr lang="en-GB" sz="1200" dirty="0"/>
          </a:p>
        </p:txBody>
      </p:sp>
      <p:sp>
        <p:nvSpPr>
          <p:cNvPr id="24" name="Rectangle 23"/>
          <p:cNvSpPr/>
          <p:nvPr/>
        </p:nvSpPr>
        <p:spPr>
          <a:xfrm>
            <a:off x="4716016" y="2204864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14</a:t>
            </a:r>
            <a:endParaRPr lang="en-GB" sz="1200" dirty="0"/>
          </a:p>
        </p:txBody>
      </p:sp>
      <p:sp>
        <p:nvSpPr>
          <p:cNvPr id="25" name="Rectangle 24"/>
          <p:cNvSpPr/>
          <p:nvPr/>
        </p:nvSpPr>
        <p:spPr>
          <a:xfrm>
            <a:off x="4716016" y="2492896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15</a:t>
            </a:r>
            <a:endParaRPr lang="en-GB" sz="1200" dirty="0"/>
          </a:p>
        </p:txBody>
      </p:sp>
      <p:sp>
        <p:nvSpPr>
          <p:cNvPr id="26" name="Rectangle 25"/>
          <p:cNvSpPr/>
          <p:nvPr/>
        </p:nvSpPr>
        <p:spPr>
          <a:xfrm>
            <a:off x="4716016" y="278092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Reg SP</a:t>
            </a:r>
            <a:endParaRPr lang="en-GB" sz="1200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528000" y="332656"/>
            <a:ext cx="2304000" cy="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67944" y="44624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16 bit data bus</a:t>
            </a:r>
            <a:endParaRPr lang="en-GB" sz="1200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3527912" y="548680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527912" y="836712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3527912" y="1124744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527912" y="1412776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3527912" y="1700808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3527912" y="1988840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3527912" y="2276872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3527912" y="2564904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3671912" y="701080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3671912" y="987914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3671912" y="1274748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3671912" y="156158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3671912" y="1848416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3671912" y="2135250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V="1">
            <a:off x="3671912" y="2422084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V="1">
            <a:off x="3671912" y="2708920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527912" y="332656"/>
            <a:ext cx="0" cy="298800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V="1">
            <a:off x="5580112" y="548680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5580112" y="836712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5580112" y="1124744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5580112" y="1412776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5580112" y="1700808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5580112" y="1988840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5580112" y="2276872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5580112" y="2564904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5580112" y="692696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5580112" y="980728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5580112" y="1268760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V="1">
            <a:off x="5580112" y="155679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5580112" y="1844824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5580112" y="2132856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5580112" y="2420888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5580112" y="2708920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5580112" y="299695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V="1">
            <a:off x="5580112" y="2852936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88000" y="594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688000" y="882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5688000" y="1170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688000" y="1458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688000" y="1746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688000" y="2034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688000" y="2322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688000" y="2610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688000" y="2898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563888" y="594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563888" y="882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563888" y="1170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563888" y="1458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563888" y="1746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563888" y="2034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563888" y="2322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563888" y="2610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87" name="Straight Arrow Connector 86"/>
          <p:cNvCxnSpPr/>
          <p:nvPr/>
        </p:nvCxnSpPr>
        <p:spPr>
          <a:xfrm>
            <a:off x="5832000" y="332656"/>
            <a:ext cx="0" cy="414000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V="1">
            <a:off x="3275856" y="980728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3275856" y="1162465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383744" y="1063769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2555776" y="1196752"/>
            <a:ext cx="0" cy="360000"/>
          </a:xfrm>
          <a:prstGeom prst="straightConnector1">
            <a:avLst/>
          </a:prstGeom>
          <a:ln w="25400">
            <a:solidFill>
              <a:srgbClr val="92D05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763688" y="2204864"/>
            <a:ext cx="1512168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Instruction Decode and Control</a:t>
            </a:r>
            <a:endParaRPr lang="en-GB" sz="1200" dirty="0"/>
          </a:p>
        </p:txBody>
      </p:sp>
      <p:sp>
        <p:nvSpPr>
          <p:cNvPr id="99" name="TextBox 98"/>
          <p:cNvSpPr txBox="1"/>
          <p:nvPr/>
        </p:nvSpPr>
        <p:spPr>
          <a:xfrm>
            <a:off x="2088152" y="1855857"/>
            <a:ext cx="1296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16 bit instruction</a:t>
            </a:r>
            <a:endParaRPr lang="en-GB" sz="1200" dirty="0"/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2555776" y="1844824"/>
            <a:ext cx="0" cy="360000"/>
          </a:xfrm>
          <a:prstGeom prst="straightConnector1">
            <a:avLst/>
          </a:prstGeom>
          <a:ln w="25400">
            <a:solidFill>
              <a:srgbClr val="92D05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V="1">
            <a:off x="3275856" y="263691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376464" y="25380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3779912" y="3212976"/>
            <a:ext cx="86409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ALU In A Latch</a:t>
            </a:r>
            <a:endParaRPr lang="en-GB" sz="1200" dirty="0"/>
          </a:p>
        </p:txBody>
      </p:sp>
      <p:sp>
        <p:nvSpPr>
          <p:cNvPr id="105" name="Rectangle 104"/>
          <p:cNvSpPr/>
          <p:nvPr/>
        </p:nvSpPr>
        <p:spPr>
          <a:xfrm>
            <a:off x="4716016" y="3212976"/>
            <a:ext cx="86409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ALU In B Latch</a:t>
            </a:r>
            <a:endParaRPr lang="en-GB" sz="1200" dirty="0"/>
          </a:p>
        </p:txBody>
      </p:sp>
      <p:cxnSp>
        <p:nvCxnSpPr>
          <p:cNvPr id="106" name="Straight Arrow Connector 105"/>
          <p:cNvCxnSpPr/>
          <p:nvPr/>
        </p:nvCxnSpPr>
        <p:spPr>
          <a:xfrm flipV="1">
            <a:off x="3275856" y="2420888"/>
            <a:ext cx="108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V="1">
            <a:off x="3527912" y="3322929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 flipV="1">
            <a:off x="3671912" y="3466945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563888" y="3368025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11" name="Straight Arrow Connector 110"/>
          <p:cNvCxnSpPr/>
          <p:nvPr/>
        </p:nvCxnSpPr>
        <p:spPr>
          <a:xfrm flipV="1">
            <a:off x="5580112" y="3466977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V="1">
            <a:off x="5580112" y="3322961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5688000" y="3368025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3779912" y="3933056"/>
            <a:ext cx="180020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ALU</a:t>
            </a:r>
            <a:endParaRPr lang="en-GB" sz="1200" dirty="0"/>
          </a:p>
        </p:txBody>
      </p:sp>
      <p:cxnSp>
        <p:nvCxnSpPr>
          <p:cNvPr id="118" name="Straight Arrow Connector 117"/>
          <p:cNvCxnSpPr/>
          <p:nvPr/>
        </p:nvCxnSpPr>
        <p:spPr>
          <a:xfrm flipV="1">
            <a:off x="3671912" y="417599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3563888" y="4077072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20" name="Straight Arrow Connector 119"/>
          <p:cNvCxnSpPr/>
          <p:nvPr/>
        </p:nvCxnSpPr>
        <p:spPr>
          <a:xfrm flipV="1">
            <a:off x="4680000" y="4221088"/>
            <a:ext cx="0" cy="10800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4680000" y="4472608"/>
            <a:ext cx="1152000" cy="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>
            <a:off x="4680000" y="4283952"/>
            <a:ext cx="0" cy="198000"/>
          </a:xfrm>
          <a:prstGeom prst="straightConnector1">
            <a:avLst/>
          </a:prstGeom>
          <a:ln w="254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6084168" y="908720"/>
            <a:ext cx="151216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RAM Address Latch</a:t>
            </a:r>
            <a:endParaRPr lang="en-GB" sz="1200" dirty="0"/>
          </a:p>
        </p:txBody>
      </p:sp>
      <p:sp>
        <p:nvSpPr>
          <p:cNvPr id="128" name="Rectangle 127"/>
          <p:cNvSpPr/>
          <p:nvPr/>
        </p:nvSpPr>
        <p:spPr>
          <a:xfrm>
            <a:off x="6084168" y="1556792"/>
            <a:ext cx="1512168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 smtClean="0"/>
              <a:t>RAM</a:t>
            </a:r>
            <a:endParaRPr lang="en-GB" sz="1200" dirty="0"/>
          </a:p>
        </p:txBody>
      </p:sp>
      <p:sp>
        <p:nvSpPr>
          <p:cNvPr id="129" name="TextBox 128"/>
          <p:cNvSpPr txBox="1"/>
          <p:nvPr/>
        </p:nvSpPr>
        <p:spPr>
          <a:xfrm>
            <a:off x="6408632" y="1207785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16 bit address</a:t>
            </a:r>
            <a:endParaRPr lang="en-GB" sz="1200" dirty="0"/>
          </a:p>
        </p:txBody>
      </p:sp>
      <p:cxnSp>
        <p:nvCxnSpPr>
          <p:cNvPr id="133" name="Straight Arrow Connector 132"/>
          <p:cNvCxnSpPr/>
          <p:nvPr/>
        </p:nvCxnSpPr>
        <p:spPr>
          <a:xfrm>
            <a:off x="6876256" y="1196752"/>
            <a:ext cx="0" cy="360000"/>
          </a:xfrm>
          <a:prstGeom prst="straightConnector1">
            <a:avLst/>
          </a:prstGeom>
          <a:ln w="25400">
            <a:solidFill>
              <a:srgbClr val="92D050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V="1">
            <a:off x="5832168" y="980728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flipV="1">
            <a:off x="5976168" y="1140314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5868144" y="1034400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37" name="Straight Arrow Connector 136"/>
          <p:cNvCxnSpPr/>
          <p:nvPr/>
        </p:nvCxnSpPr>
        <p:spPr>
          <a:xfrm flipV="1">
            <a:off x="5832168" y="1628800"/>
            <a:ext cx="252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flipV="1">
            <a:off x="5976168" y="1806722"/>
            <a:ext cx="108000" cy="0"/>
          </a:xfrm>
          <a:prstGeom prst="straightConnector1">
            <a:avLst/>
          </a:prstGeom>
          <a:ln w="25400">
            <a:solidFill>
              <a:srgbClr val="FF0000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5868144" y="1700808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*</a:t>
            </a:r>
            <a:endParaRPr lang="en-GB" dirty="0">
              <a:solidFill>
                <a:srgbClr val="FF0000"/>
              </a:solidFill>
            </a:endParaRPr>
          </a:p>
        </p:txBody>
      </p:sp>
      <p:cxnSp>
        <p:nvCxnSpPr>
          <p:cNvPr id="140" name="Straight Arrow Connector 139"/>
          <p:cNvCxnSpPr/>
          <p:nvPr/>
        </p:nvCxnSpPr>
        <p:spPr>
          <a:xfrm flipV="1">
            <a:off x="3348000" y="2422800"/>
            <a:ext cx="180000" cy="0"/>
          </a:xfrm>
          <a:prstGeom prst="straightConnector1">
            <a:avLst/>
          </a:prstGeom>
          <a:ln w="2540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95536" y="4320386"/>
            <a:ext cx="496855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Control signals are shown with “*”</a:t>
            </a:r>
          </a:p>
          <a:p>
            <a:pPr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Only the “Instruction Decode and Control” block writes these signals</a:t>
            </a:r>
          </a:p>
          <a:p>
            <a:pPr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Each Reg (including SP), Program Counter, and RAM has 3 control modes: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Read from data bus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Write to data bus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Do nothing (output is high impedance tri-state)</a:t>
            </a:r>
          </a:p>
          <a:p>
            <a:pPr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RAM Address Latch and ALU In A/B have 2 control modes: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Read from data bus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Do nothing</a:t>
            </a:r>
          </a:p>
          <a:p>
            <a:pPr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ALU internal operation has N control modes</a:t>
            </a:r>
          </a:p>
          <a:p>
            <a:pPr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ALU output has 2 control modes: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Write to data bus</a:t>
            </a:r>
          </a:p>
          <a:p>
            <a:pPr lvl="1">
              <a:buFont typeface="Arial" pitchFamily="34" charset="0"/>
              <a:buChar char="•"/>
            </a:pPr>
            <a:r>
              <a:rPr lang="en-GB" sz="1200" dirty="0" smtClean="0">
                <a:solidFill>
                  <a:srgbClr val="FF0000"/>
                </a:solidFill>
              </a:rPr>
              <a:t> Do nothing (output is high impedance tri-state)</a:t>
            </a: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6012160" y="2132856"/>
            <a:ext cx="30243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There may be 0 or 1 blocks writing to the</a:t>
            </a:r>
          </a:p>
          <a:p>
            <a:r>
              <a:rPr lang="en-GB" sz="1200" dirty="0" smtClean="0"/>
              <a:t>data bus at any one time.</a:t>
            </a:r>
          </a:p>
          <a:p>
            <a:r>
              <a:rPr lang="en-GB" sz="1200" dirty="0" smtClean="0"/>
              <a:t>There must never be more than one block</a:t>
            </a:r>
          </a:p>
          <a:p>
            <a:r>
              <a:rPr lang="en-GB" sz="1200" dirty="0" smtClean="0"/>
              <a:t>trying to write to the data bus at the same time.</a:t>
            </a:r>
            <a:endParaRPr lang="en-GB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61213" y="251356"/>
            <a:ext cx="622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1: Controlling writing to data bus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980728"/>
            <a:ext cx="856895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Needs to be able to select 0, or 1 of N, blocks to output on data bus. </a:t>
            </a:r>
          </a:p>
          <a:p>
            <a:r>
              <a:rPr lang="en-GB" dirty="0" smtClean="0"/>
              <a:t>There are 21 blocks that are capable of outputting to the data bus: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16 general purpose registers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SP (Stack Pointer)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PC (Program counter)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IS (Instruction sequencer) part of “Instruction Decode and Control) e.g. Load immediate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RAM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ALO (ALU Output)</a:t>
            </a:r>
          </a:p>
          <a:p>
            <a:endParaRPr lang="en-GB" dirty="0" smtClean="0"/>
          </a:p>
          <a:p>
            <a:r>
              <a:rPr lang="en-GB" dirty="0" smtClean="0"/>
              <a:t>It will need 5 bits (value 0..31) to specify which block should output on the data bus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Values 0..15 can be used for general purpose registers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Value 16 for SP, etc up to value 20 for ALU output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Values 21..30 are spare for now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Value 31 means no block should output on the data bus</a:t>
            </a:r>
          </a:p>
          <a:p>
            <a:pPr>
              <a:buFont typeface="Arial" pitchFamily="34" charset="0"/>
              <a:buChar char="•"/>
            </a:pPr>
            <a:endParaRPr lang="en-GB" dirty="0" smtClean="0"/>
          </a:p>
          <a:p>
            <a:r>
              <a:rPr lang="en-GB" dirty="0" smtClean="0"/>
              <a:t>Converting 5 bits to 32 individual control lines can be implemented with a </a:t>
            </a:r>
            <a:r>
              <a:rPr lang="en-GB" dirty="0" err="1" smtClean="0"/>
              <a:t>demultiplexer</a:t>
            </a:r>
            <a:r>
              <a:rPr lang="en-GB" dirty="0" smtClean="0"/>
              <a:t> e.g. Using </a:t>
            </a:r>
            <a:r>
              <a:rPr lang="en-GB" dirty="0" smtClean="0">
                <a:hlinkClick r:id="rId2"/>
              </a:rPr>
              <a:t>https://eajournals.org/ijeees/wp-content/uploads/sites/53/2023/12/5-Line-to-32-Line.pdf</a:t>
            </a:r>
            <a:r>
              <a:rPr lang="en-GB" dirty="0" smtClean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8768" y="251356"/>
            <a:ext cx="722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2: Controlling what reads from the data bus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980728"/>
            <a:ext cx="85689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Needs to be able to select 0, or 1 of N, blocks to read from data bus.</a:t>
            </a:r>
          </a:p>
          <a:p>
            <a:r>
              <a:rPr lang="en-GB" dirty="0" smtClean="0"/>
              <a:t>There are 22 Blocks that are capable of reading from the data bus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16 general purpose registers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SP (Stack Pointer)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PC (Program counter)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RAL (RAM Address Latch)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RAM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ALA (ALU In A Latch)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ALB (ALU In B Latch)</a:t>
            </a:r>
          </a:p>
          <a:p>
            <a:pPr>
              <a:buFont typeface="Arial" pitchFamily="34" charset="0"/>
              <a:buChar char="•"/>
            </a:pPr>
            <a:endParaRPr lang="en-GB" dirty="0" smtClean="0"/>
          </a:p>
          <a:p>
            <a:r>
              <a:rPr lang="en-GB" dirty="0" smtClean="0"/>
              <a:t>TBD may be a special mode for initialisation where IS puts zero on data bus and all blocks are filled with zero. As a minimum PC must be initialised, probably to zero, before CPU can start fetching instructions. Maybe there will be a hardware feature to automatically zero all registers and latches on power up.</a:t>
            </a:r>
          </a:p>
          <a:p>
            <a:endParaRPr lang="en-GB" dirty="0" smtClean="0"/>
          </a:p>
          <a:p>
            <a:r>
              <a:rPr lang="en-GB" dirty="0" smtClean="0"/>
              <a:t>See previous slide for note about 5 bit to 32 bit </a:t>
            </a:r>
            <a:r>
              <a:rPr lang="en-GB" dirty="0" err="1" smtClean="0"/>
              <a:t>demultiplexer</a:t>
            </a:r>
            <a:r>
              <a:rPr lang="en-GB" dirty="0" smtClean="0"/>
              <a:t>. There will need to be 2 such </a:t>
            </a:r>
            <a:r>
              <a:rPr lang="en-GB" dirty="0" err="1" smtClean="0"/>
              <a:t>demultiplexers</a:t>
            </a:r>
            <a:r>
              <a:rPr lang="en-GB" dirty="0" smtClean="0"/>
              <a:t>, one for write and one for read.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33283" y="251356"/>
            <a:ext cx="4677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3: ROM Solution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536" y="980728"/>
            <a:ext cx="85689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From the previous 2 slides we need a 10 bit ROM word to control what writes to, and what reads from, the data bus.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The following </a:t>
            </a:r>
            <a:r>
              <a:rPr lang="en-GB" dirty="0" err="1" smtClean="0"/>
              <a:t>tbds</a:t>
            </a:r>
            <a:r>
              <a:rPr lang="en-GB" dirty="0" smtClean="0"/>
              <a:t> don’t affect the principle of a ROM sequencer, they are details that we don’t need to consider at this stage. 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We may need additional bits for &lt;</a:t>
            </a:r>
            <a:r>
              <a:rPr lang="en-GB" dirty="0" err="1" smtClean="0"/>
              <a:t>tbd</a:t>
            </a:r>
            <a:r>
              <a:rPr lang="en-GB" dirty="0" smtClean="0"/>
              <a:t>&gt;?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Inc PC (would be much slower if had to use ALU for this)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Inc/Dec SP (  ditto )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ALU function control other than input latches and output enable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Something else?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We may be able to use bits directly from the op code to reduce ROM word size &lt;</a:t>
            </a:r>
            <a:r>
              <a:rPr lang="en-GB" dirty="0" err="1" smtClean="0"/>
              <a:t>tbd</a:t>
            </a:r>
            <a:r>
              <a:rPr lang="en-GB" dirty="0" smtClean="0"/>
              <a:t>&gt;?</a:t>
            </a:r>
          </a:p>
          <a:p>
            <a:r>
              <a:rPr lang="en-GB" dirty="0" smtClean="0"/>
              <a:t>The number of ROM words we need per CPU instruction depends on the number of steps in the instruction processing sequence.</a:t>
            </a:r>
          </a:p>
          <a:p>
            <a:r>
              <a:rPr lang="en-GB" dirty="0" smtClean="0"/>
              <a:t>For now, lets just assume that the maximum number of steps (NOS) is 16 &lt;</a:t>
            </a:r>
            <a:r>
              <a:rPr lang="en-GB" dirty="0" err="1" smtClean="0"/>
              <a:t>tbd</a:t>
            </a:r>
            <a:r>
              <a:rPr lang="en-GB" dirty="0" smtClean="0"/>
              <a:t>&gt;?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We will always choose a power of 2, so if 16 isn’t enough, we will use 32, or 64 etc</a:t>
            </a:r>
          </a:p>
          <a:p>
            <a:r>
              <a:rPr lang="en-GB" dirty="0" smtClean="0"/>
              <a:t>See next slide for ROM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9922" y="251356"/>
            <a:ext cx="5584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4: ROM Layout (NOS = 16)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123728" y="1268760"/>
            <a:ext cx="475252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Data = Sequence for instruction number 0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123728" y="2132856"/>
            <a:ext cx="475252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Data = Sequence for instruction number 1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6878899" y="836712"/>
            <a:ext cx="93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Address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6878899" y="11247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0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6878899" y="18355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15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6878899" y="20160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16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6878899" y="26996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31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2123728" y="2969792"/>
            <a:ext cx="475252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Data = Sequence for instruction number 2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6878899" y="28529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32</a:t>
            </a:r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6878899" y="35365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47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2123728" y="3833888"/>
            <a:ext cx="475252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... Etc ...</a:t>
            </a:r>
            <a:endParaRPr lang="en-GB" dirty="0"/>
          </a:p>
        </p:txBody>
      </p:sp>
      <p:sp>
        <p:nvSpPr>
          <p:cNvPr id="17" name="TextBox 16"/>
          <p:cNvSpPr txBox="1"/>
          <p:nvPr/>
        </p:nvSpPr>
        <p:spPr>
          <a:xfrm>
            <a:off x="6878899" y="37170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48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539552" y="5229200"/>
            <a:ext cx="85770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TBD how to map actual instructions on to an “Instruction number” for the ROM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E.g. CPY Ra, </a:t>
            </a:r>
            <a:r>
              <a:rPr lang="en-GB" dirty="0" err="1" smtClean="0"/>
              <a:t>Rb</a:t>
            </a:r>
            <a:r>
              <a:rPr lang="en-GB" dirty="0" smtClean="0"/>
              <a:t> could be 256 different instructions, or just 1 (latter seems more sensible)</a:t>
            </a:r>
          </a:p>
          <a:p>
            <a:r>
              <a:rPr lang="en-GB" dirty="0" smtClean="0"/>
              <a:t>TBD every instruction has to fetch instruction from ROM and store it in the IS block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Would that be part of every instruction in ROM or implemented in </a:t>
            </a:r>
            <a:r>
              <a:rPr lang="en-GB" dirty="0" err="1" smtClean="0"/>
              <a:t>decidate</a:t>
            </a:r>
            <a:r>
              <a:rPr lang="en-GB" dirty="0" smtClean="0"/>
              <a:t> hardware.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2086" y="251356"/>
            <a:ext cx="639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5: ROM Address Control (NOS = 16)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0" y="980728"/>
            <a:ext cx="7402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Let’s assume there are 64 different instruction numbers (NOI)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The actual number is </a:t>
            </a:r>
            <a:r>
              <a:rPr lang="en-GB" dirty="0" err="1" smtClean="0"/>
              <a:t>tbd</a:t>
            </a:r>
            <a:r>
              <a:rPr lang="en-GB" dirty="0" smtClean="0"/>
              <a:t>, 64 is chosen just as an example here</a:t>
            </a:r>
          </a:p>
          <a:p>
            <a:r>
              <a:rPr lang="en-GB" dirty="0" smtClean="0"/>
              <a:t>The lower N address bits (for NOS=16) A0..A3 select the step in the sequence</a:t>
            </a:r>
          </a:p>
          <a:p>
            <a:r>
              <a:rPr lang="en-GB" dirty="0" smtClean="0"/>
              <a:t>The next M address bits (for NOI=128) A4..</a:t>
            </a:r>
            <a:r>
              <a:rPr lang="en-GB" dirty="0" smtClean="0"/>
              <a:t>A9 </a:t>
            </a:r>
            <a:r>
              <a:rPr lang="en-GB" dirty="0" smtClean="0"/>
              <a:t>select the instruction number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5576" y="2420888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A3</a:t>
                      </a:r>
                      <a:endParaRPr lang="en-GB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A2</a:t>
                      </a:r>
                      <a:endParaRPr lang="en-GB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A1</a:t>
                      </a:r>
                      <a:endParaRPr lang="en-GB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A0</a:t>
                      </a:r>
                      <a:endParaRPr lang="en-GB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51520" y="2948751"/>
            <a:ext cx="823116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The blue bits will be set by the IS when the instruction has been decoded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So </a:t>
            </a:r>
            <a:r>
              <a:rPr lang="en-GB" dirty="0" err="1" smtClean="0"/>
              <a:t>tbd</a:t>
            </a:r>
            <a:r>
              <a:rPr lang="en-GB" dirty="0" smtClean="0"/>
              <a:t> – instruction 0 is special and always used to just fetch the instruction?</a:t>
            </a:r>
          </a:p>
          <a:p>
            <a:r>
              <a:rPr lang="en-GB" dirty="0" smtClean="0"/>
              <a:t>The green bits will be generated by a counter to go through the sequence of steps for </a:t>
            </a:r>
          </a:p>
          <a:p>
            <a:r>
              <a:rPr lang="en-GB" dirty="0" smtClean="0"/>
              <a:t>this instruction.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IS will set the counter for A3 to A0 to zero at the start of each instruction execution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 fixed frequency clock will be used to increment this counter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How will the IS know how many steps there are for this instruction? </a:t>
            </a:r>
            <a:r>
              <a:rPr lang="en-GB" dirty="0" err="1" smtClean="0"/>
              <a:t>tbd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Could have one data bit of each ROM word to mean “end of sequence” or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Could have the first ROM word in the sequence contain the number of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25104" y="251356"/>
            <a:ext cx="729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6: ROM Examples – Common for all </a:t>
            </a:r>
            <a:r>
              <a:rPr lang="en-GB" dirty="0" err="1" smtClean="0"/>
              <a:t>opcodes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0" y="980728"/>
            <a:ext cx="87403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Let’s assume, for all examples, that: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The PC is adjusted at the end of each instruction so ... 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At at the start of each instruction the PC contains the correct value for fetching the </a:t>
            </a:r>
            <a:br>
              <a:rPr lang="en-GB" dirty="0" smtClean="0"/>
            </a:br>
            <a:r>
              <a:rPr lang="en-GB" dirty="0" smtClean="0"/>
              <a:t>  next instruction, and the code ROM output is ready to read.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That dedicated hardware (not control ROM contents) will be used to read the instruction</a:t>
            </a:r>
            <a:br>
              <a:rPr lang="en-GB" dirty="0" smtClean="0"/>
            </a:br>
            <a:r>
              <a:rPr lang="en-GB" dirty="0" smtClean="0"/>
              <a:t>   ROM output into the IS block.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So the control ROM is used after the IS has worked out the value to put in the “instruction</a:t>
            </a:r>
            <a:br>
              <a:rPr lang="en-GB" dirty="0" smtClean="0"/>
            </a:br>
            <a:r>
              <a:rPr lang="en-GB" dirty="0" smtClean="0"/>
              <a:t>   number” bits of the control ROM address.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TBD maybe the op code can have bits for “instruction number”?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 In general there must be some kind of design interaction between values chosen for </a:t>
            </a:r>
            <a:br>
              <a:rPr lang="en-GB" dirty="0" smtClean="0"/>
            </a:br>
            <a:r>
              <a:rPr lang="en-GB" dirty="0" smtClean="0"/>
              <a:t>  the opcode bits and the instruction sequencing hardware.</a:t>
            </a:r>
          </a:p>
          <a:p>
            <a:pPr>
              <a:buFont typeface="Arial" pitchFamily="34" charset="0"/>
              <a:buChar char="•"/>
            </a:pPr>
            <a:endParaRPr lang="en-GB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38725" y="251356"/>
            <a:ext cx="7066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7: ROM Examples – And </a:t>
            </a:r>
            <a:r>
              <a:rPr lang="en-GB" dirty="0" err="1" smtClean="0"/>
              <a:t>Ra,Rb</a:t>
            </a:r>
            <a:r>
              <a:rPr lang="en-GB" dirty="0" smtClean="0"/>
              <a:t> - Sequence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0" y="980728"/>
            <a:ext cx="678801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First define the sequence of steps required for this specific instruction: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Ra to output its value on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ALA (ALU Input A) to store the value from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Ra to stop outputting on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</a:t>
            </a:r>
            <a:r>
              <a:rPr lang="en-GB" dirty="0" err="1" smtClean="0"/>
              <a:t>Rb</a:t>
            </a:r>
            <a:r>
              <a:rPr lang="en-GB" dirty="0" smtClean="0"/>
              <a:t> to output its value on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ALB (ALU Input B) to store the value from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</a:t>
            </a:r>
            <a:r>
              <a:rPr lang="en-GB" dirty="0" err="1" smtClean="0"/>
              <a:t>Rb</a:t>
            </a:r>
            <a:r>
              <a:rPr lang="en-GB" dirty="0" smtClean="0"/>
              <a:t> to stop outputting its value on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ALU what operation to perform </a:t>
            </a:r>
            <a:r>
              <a:rPr lang="en-GB" dirty="0" err="1" smtClean="0"/>
              <a:t>tbd</a:t>
            </a:r>
            <a:r>
              <a:rPr lang="en-GB" dirty="0" smtClean="0"/>
              <a:t>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 smtClean="0"/>
              <a:t>Perhaps this could be step 1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 smtClean="0"/>
              <a:t>Does IS output this information on control lines? (I assume so)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 smtClean="0"/>
              <a:t>Hence it doesn’t output this via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ALU output to put the result on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Ra to store the value from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Tell ALU to stop </a:t>
            </a:r>
            <a:r>
              <a:rPr lang="en-GB" dirty="0" err="1" smtClean="0"/>
              <a:t>outptting</a:t>
            </a:r>
            <a:r>
              <a:rPr lang="en-GB" dirty="0" smtClean="0"/>
              <a:t> its value on the data bus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Increment PC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1540" y="251356"/>
            <a:ext cx="82809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IS (Instruction sequencer) Page 8: ROM Examples – And </a:t>
            </a:r>
            <a:r>
              <a:rPr lang="en-GB" dirty="0" err="1" smtClean="0"/>
              <a:t>Ra,Rb</a:t>
            </a:r>
            <a:r>
              <a:rPr lang="en-GB" dirty="0" smtClean="0"/>
              <a:t> – Control ROM contents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0" y="764704"/>
            <a:ext cx="628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Assume this is instruction number 4 (no reason, just for example)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5576" y="1351541"/>
          <a:ext cx="720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0"/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A9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A8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A7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A6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A5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A4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A3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A2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A0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ROM Data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rgbClr val="7030A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enable Ra output on data bus</a:t>
                      </a:r>
                      <a:r>
                        <a:rPr lang="en-GB" sz="1200" baseline="0" dirty="0" smtClean="0"/>
                        <a:t> (note 1)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</a:t>
                      </a:r>
                      <a:r>
                        <a:rPr lang="en-GB" sz="1200" baseline="0" dirty="0" smtClean="0"/>
                        <a:t> to t</a:t>
                      </a:r>
                      <a:r>
                        <a:rPr lang="en-GB" sz="1200" dirty="0" smtClean="0"/>
                        <a:t>ell ALA to store the value from the data bus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disable</a:t>
                      </a:r>
                      <a:r>
                        <a:rPr lang="en-GB" sz="1200" baseline="0" dirty="0" smtClean="0"/>
                        <a:t> Ra output from data bus (note 1)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enable </a:t>
                      </a:r>
                      <a:r>
                        <a:rPr lang="en-GB" sz="1200" dirty="0" err="1" smtClean="0"/>
                        <a:t>Rb</a:t>
                      </a:r>
                      <a:r>
                        <a:rPr lang="en-GB" sz="1200" dirty="0" smtClean="0"/>
                        <a:t> output</a:t>
                      </a:r>
                      <a:r>
                        <a:rPr lang="en-GB" sz="1200" baseline="0" dirty="0" smtClean="0"/>
                        <a:t> on data bus (note 1)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tell ALB to store the value from the data bus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disable</a:t>
                      </a:r>
                      <a:r>
                        <a:rPr lang="en-GB" sz="1200" baseline="0" dirty="0" smtClean="0"/>
                        <a:t> </a:t>
                      </a:r>
                      <a:r>
                        <a:rPr lang="en-GB" sz="1200" baseline="0" dirty="0" err="1" smtClean="0"/>
                        <a:t>Rb</a:t>
                      </a:r>
                      <a:r>
                        <a:rPr lang="en-GB" sz="1200" baseline="0" dirty="0" smtClean="0"/>
                        <a:t> output from data bus (note 1)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Signals to tell ALU what operation</a:t>
                      </a:r>
                      <a:r>
                        <a:rPr lang="en-GB" sz="1200" baseline="0" dirty="0" smtClean="0"/>
                        <a:t> to perform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tell ALU to put output on</a:t>
                      </a:r>
                      <a:r>
                        <a:rPr lang="en-GB" sz="1200" baseline="0" dirty="0" smtClean="0"/>
                        <a:t> data bus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tell Ra to store value from the data bus (note 1)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disable ALU output on data bus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to increment</a:t>
                      </a:r>
                      <a:r>
                        <a:rPr lang="en-GB" sz="1200" baseline="0" dirty="0" smtClean="0"/>
                        <a:t> PC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0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 smtClean="0"/>
                        <a:t>1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 smtClean="0"/>
                        <a:t>Signal indicating end of instruction sequence</a:t>
                      </a:r>
                      <a:endParaRPr lang="en-GB" sz="12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520" y="3851756"/>
            <a:ext cx="906402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Note 1. The register selection </a:t>
            </a:r>
            <a:r>
              <a:rPr lang="en-GB" dirty="0" err="1" smtClean="0"/>
              <a:t>demultiplexer</a:t>
            </a:r>
            <a:r>
              <a:rPr lang="en-GB" dirty="0" smtClean="0"/>
              <a:t> will use the Ra and </a:t>
            </a:r>
            <a:r>
              <a:rPr lang="en-GB" dirty="0" err="1" smtClean="0"/>
              <a:t>Rb</a:t>
            </a:r>
            <a:r>
              <a:rPr lang="en-GB" dirty="0" smtClean="0"/>
              <a:t> values from the opcode</a:t>
            </a:r>
          </a:p>
          <a:p>
            <a:r>
              <a:rPr lang="en-GB" dirty="0" smtClean="0"/>
              <a:t>The ROM data just needs 1 bit to say “use Ra” and another bit to say “use </a:t>
            </a:r>
            <a:r>
              <a:rPr lang="en-GB" dirty="0" err="1" smtClean="0"/>
              <a:t>Rb</a:t>
            </a:r>
            <a:r>
              <a:rPr lang="en-GB" dirty="0" smtClean="0"/>
              <a:t>”.</a:t>
            </a:r>
          </a:p>
          <a:p>
            <a:endParaRPr lang="en-GB" dirty="0" smtClean="0"/>
          </a:p>
          <a:p>
            <a:r>
              <a:rPr lang="en-GB" dirty="0" smtClean="0"/>
              <a:t>I’ve not shown exactly how bits in the ROM data are used. I’m mostly trying to explain how </a:t>
            </a:r>
            <a:br>
              <a:rPr lang="en-GB" dirty="0" smtClean="0"/>
            </a:br>
            <a:r>
              <a:rPr lang="en-GB" dirty="0" smtClean="0"/>
              <a:t>using a ROM to control the sequence to execute an instruction can work.</a:t>
            </a:r>
          </a:p>
          <a:p>
            <a:endParaRPr lang="en-GB" dirty="0" smtClean="0"/>
          </a:p>
          <a:p>
            <a:r>
              <a:rPr lang="en-GB" dirty="0" smtClean="0"/>
              <a:t>NB: All digital chips (74xx, ROM, RAM) have a </a:t>
            </a:r>
            <a:r>
              <a:rPr lang="en-GB" dirty="0" err="1" smtClean="0"/>
              <a:t>resoponse</a:t>
            </a:r>
            <a:r>
              <a:rPr lang="en-GB" dirty="0" smtClean="0"/>
              <a:t> time. So e.g. At the instant an</a:t>
            </a:r>
            <a:br>
              <a:rPr lang="en-GB" dirty="0" smtClean="0"/>
            </a:br>
            <a:r>
              <a:rPr lang="en-GB" dirty="0" smtClean="0"/>
              <a:t>ALU input latch is told to store the value from the data bus, that value may not yet be </a:t>
            </a:r>
            <a:br>
              <a:rPr lang="en-GB" dirty="0" smtClean="0"/>
            </a:br>
            <a:r>
              <a:rPr lang="en-GB" dirty="0" smtClean="0"/>
              <a:t>available at the latch output. Hence why we can do e.g. “enable output” and “store input”</a:t>
            </a:r>
          </a:p>
          <a:p>
            <a:r>
              <a:rPr lang="en-GB" dirty="0" smtClean="0"/>
              <a:t>in one step. </a:t>
            </a:r>
            <a:r>
              <a:rPr lang="en-GB" dirty="0" err="1" smtClean="0"/>
              <a:t>Tbd</a:t>
            </a:r>
            <a:r>
              <a:rPr lang="en-GB" dirty="0" smtClean="0"/>
              <a:t>, depends on exact details of hardware. Might be able to do this in some cases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1697</Words>
  <Application>Microsoft Office PowerPoint</Application>
  <PresentationFormat>On-screen Show (4:3)</PresentationFormat>
  <Paragraphs>331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8</cp:revision>
  <dcterms:created xsi:type="dcterms:W3CDTF">2026-05-31T17:03:08Z</dcterms:created>
  <dcterms:modified xsi:type="dcterms:W3CDTF">2026-06-04T13:32:44Z</dcterms:modified>
</cp:coreProperties>
</file>